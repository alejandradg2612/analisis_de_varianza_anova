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Outfit" panose="020B0604020202020204" charset="0"/>
      <p:regular r:id="rId16"/>
      <p:bold r:id="rId17"/>
    </p:embeddedFont>
    <p:embeddedFont>
      <p:font typeface="Outfit ExtraBold" panose="020B0604020202020204" charset="0"/>
      <p:bold r:id="rId18"/>
    </p:embeddedFont>
    <p:embeddedFont>
      <p:font typeface="Plus Jakarta Sans" panose="020B0604020202020204" charset="0"/>
      <p:regular r:id="rId19"/>
      <p:bold r:id="rId20"/>
      <p:italic r:id="rId21"/>
      <p:boldItalic r:id="rId22"/>
    </p:embeddedFont>
    <p:embeddedFont>
      <p:font typeface="Plus Jakarta Sans Medium" panose="020B0604020202020204" charset="0"/>
      <p:regular r:id="rId23"/>
      <p:bold r:id="rId24"/>
      <p:italic r:id="rId25"/>
      <p:boldItalic r:id="rId26"/>
    </p:embeddedFont>
    <p:embeddedFont>
      <p:font typeface="Plus Jakarta Sans SemiBold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71525" y="563715"/>
            <a:ext cx="6300900" cy="3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Más allá de las medias: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0" i="0" u="none" strike="noStrike" cap="none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Introducción al ANOVA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4264223"/>
            <a:ext cx="60007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¿Cómo comparar 3 o más grupos sin morir en el intento de forma estadísticamente segura?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015825" y="6041499"/>
            <a:ext cx="2000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Alejandra Duque García</a:t>
            </a:r>
            <a:endParaRPr b="1"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5050" y="1570425"/>
            <a:ext cx="42862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288059"/>
            <a:ext cx="5143500" cy="1721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41351"/>
            <a:ext cx="5143500" cy="2853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34625" y="651420"/>
            <a:ext cx="1095375" cy="27994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2135534"/>
            <a:ext cx="5143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Imagina que quieres saber si tres campañas de marketing diferentes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(A, B y C)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tienen el mismo impacto en las ventas.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3314700" y="3297585"/>
            <a:ext cx="38100" cy="170288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400175" y="3583334"/>
            <a:ext cx="442055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La trampa metodológica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57275" y="3983384"/>
            <a:ext cx="45529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Podríamos intentar hacer varias pruebas t-Student de manera individual para comparar los grupos en parejas: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(A vs B)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(B vs C)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(A vs C)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8839200" y="2250878"/>
            <a:ext cx="38100" cy="283427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629400" y="2965251"/>
            <a:ext cx="45053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Cuantas más pruebas realizas consecutivamente, más aumenta la probabilidad matemática de cometer un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Error Tipo I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(afirmar que hay diferencia cuando no la hay).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3839467"/>
            <a:ext cx="4505325" cy="959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5" y="361190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6972300" y="2536626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F4444"/>
                </a:solidFill>
                <a:latin typeface="Outfit"/>
                <a:ea typeface="Outfit"/>
                <a:cs typeface="Outfit"/>
                <a:sym typeface="Outfit"/>
              </a:rPr>
              <a:t>El peligro: Error Acumulado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34575" y="2565201"/>
            <a:ext cx="12001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256520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952500" y="571500"/>
            <a:ext cx="1100137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El Problema de Comparar Múltiples Grupos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762000" y="571500"/>
            <a:ext cx="57150" cy="43993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762000" y="6134100"/>
            <a:ext cx="10668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Análisis de Varianza (ANOVA)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08907"/>
            <a:ext cx="5143500" cy="2918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08907"/>
            <a:ext cx="5143500" cy="2918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25100" y="651420"/>
            <a:ext cx="1104900" cy="27994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/>
          <p:nvPr/>
        </p:nvSpPr>
        <p:spPr>
          <a:xfrm>
            <a:off x="3314700" y="2218432"/>
            <a:ext cx="38100" cy="2899171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1057275" y="3028057"/>
            <a:ext cx="47805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Análisis de Varianza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57275" y="3428107"/>
            <a:ext cx="45529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ANOVA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(Analysis of Variance) es una potente técnica estadística paramétrica diseñada para superar las limitaciones de las comparaciones múltiples.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57275" y="4302323"/>
            <a:ext cx="45529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F46E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Compara las medias de 3 o más grupos simultáneamente mediante una sola prueba.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8839200" y="2218432"/>
            <a:ext cx="38100" cy="289917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581775" y="3028057"/>
            <a:ext cx="47805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La Gran Paradoja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581775" y="3428107"/>
            <a:ext cx="45529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Aunque nuestro objetivo final es determinar si las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medias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los diferentes grupos son estadísticamente diferentes...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4058542"/>
            <a:ext cx="4552950" cy="773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5" y="255180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255180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952500" y="571500"/>
            <a:ext cx="1100137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La Solución: ¿Qué es ANOVA?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762000" y="571500"/>
            <a:ext cx="57150" cy="43993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762000" y="6134100"/>
            <a:ext cx="10668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Análisis de Varianza (ANOVA)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639419"/>
            <a:ext cx="10668000" cy="948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260252"/>
            <a:ext cx="5191125" cy="2093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260252"/>
            <a:ext cx="5191125" cy="2093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06050" y="651420"/>
            <a:ext cx="1123950" cy="27994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762000" y="1747837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ANOVA divide la variabilidad total de tus datos en dos componentes fundamentales para compararlas: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62025" y="4839444"/>
            <a:ext cx="102679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Regla de Oro: Si la diferencia ENTRE grupos es significativamente mayor que el ruido DENTRO de los grupos, hay un efecto real.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3338512" y="2269778"/>
            <a:ext cx="38100" cy="20743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5" y="2555527"/>
            <a:ext cx="5905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1057275" y="2927002"/>
            <a:ext cx="483060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Variabilidad ENTRE grupos (Between)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057275" y="3327052"/>
            <a:ext cx="46005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Mide cuánto se diferencian las medias de los grupos entre sí. Representa la magnitud de la diferencia que queremos demostrar (el impacto real de las campañas).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8815387" y="2269778"/>
            <a:ext cx="38100" cy="20743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4150" y="2555527"/>
            <a:ext cx="1019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6534150" y="2927002"/>
            <a:ext cx="483060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Variabilidad DENTRO de grupos (Within)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534150" y="3327052"/>
            <a:ext cx="46005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Mide la dispersión interna de los datos dentro de cada grupo. Representa el ruido de fondo, la varianza natural y el error aleatorio inevitable.</a:t>
            </a:r>
            <a:endParaRPr/>
          </a:p>
        </p:txBody>
      </p:sp>
      <p:pic>
        <p:nvPicPr>
          <p:cNvPr id="152" name="Google Shape;152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85862" y="4896594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952500" y="571500"/>
            <a:ext cx="1100137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La Intuición Detrás del Algoritmo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762000" y="571500"/>
            <a:ext cx="57150" cy="43993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762000" y="6134100"/>
            <a:ext cx="10668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Análisis de Varianza (ANOVA)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72494"/>
            <a:ext cx="411480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57800" y="2672804"/>
            <a:ext cx="6172200" cy="896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2963019"/>
            <a:ext cx="33337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57800" y="4194423"/>
            <a:ext cx="3014662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5337" y="4194423"/>
            <a:ext cx="3014662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45823" y="651420"/>
            <a:ext cx="1984176" cy="27994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5257800" y="2208014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El motor de cálculo de ANOVA se resume en una sola división: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152525" y="4153644"/>
            <a:ext cx="3333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F46E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ESTADÍSTICO DE CONTRASTE</a:t>
            </a:r>
            <a:endParaRPr/>
          </a:p>
        </p:txBody>
      </p:sp>
      <p:pic>
        <p:nvPicPr>
          <p:cNvPr id="169" name="Google Shape;169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45894" y="2910929"/>
            <a:ext cx="3796010" cy="42058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257800" y="3760142"/>
            <a:ext cx="61722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Guía de interpretación rápida para analistas: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952500" y="571500"/>
            <a:ext cx="1100137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El Estadístico F de Snedecor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762000" y="571500"/>
            <a:ext cx="57150" cy="43993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762000" y="6134100"/>
            <a:ext cx="10668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Análisis de Varianza (ANOVA)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539555"/>
            <a:ext cx="10668000" cy="90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895028"/>
            <a:ext cx="5143500" cy="240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895028"/>
            <a:ext cx="5143500" cy="240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3542853"/>
            <a:ext cx="4552950" cy="46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3542853"/>
            <a:ext cx="45529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67950" y="651420"/>
            <a:ext cx="1162050" cy="279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2500" y="475208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/>
          <p:nvPr/>
        </p:nvSpPr>
        <p:spPr>
          <a:xfrm>
            <a:off x="3314700" y="1904551"/>
            <a:ext cx="38100" cy="238735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57275" y="2190303"/>
            <a:ext cx="11906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1057275" y="2561778"/>
            <a:ext cx="47805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H0 : Todas las medias son iguales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057275" y="2942778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Las campañas (o tratamientos) tienen exactamente el mismo impacto en la métrica final. No hay efecto.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8839200" y="1904551"/>
            <a:ext cx="38100" cy="238735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581775" y="2190303"/>
            <a:ext cx="1666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6581775" y="2561778"/>
            <a:ext cx="47805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H1 : Al menos una es diferente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581775" y="2942778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Como mínimo un grupo se comporta de manera distinta y presenta una media significativamente separada del resto.</a:t>
            </a:r>
            <a:endParaRPr/>
          </a:p>
        </p:txBody>
      </p:sp>
      <p:pic>
        <p:nvPicPr>
          <p:cNvPr id="194" name="Google Shape;194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76325" y="48759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1619250" y="4730055"/>
            <a:ext cx="78682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Criterio de Decisión Operativo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619250" y="4987226"/>
            <a:ext cx="84549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Evaluamos</a:t>
            </a:r>
            <a:r>
              <a:rPr lang="en-US" sz="1125" b="0" i="0" u="none" strike="noStrike" cap="none" dirty="0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25" b="0" i="0" u="none" strike="noStrike" cap="none" dirty="0" err="1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</a:t>
            </a:r>
            <a:r>
              <a:rPr lang="en-US" sz="1125" b="0" i="0" u="none" strike="noStrike" cap="none" dirty="0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25" b="1" i="0" u="none" strike="noStrike" cap="none" dirty="0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p-valor</a:t>
            </a:r>
            <a:r>
              <a:rPr lang="en-US" sz="1125" b="0" i="0" u="none" strike="noStrike" cap="none" dirty="0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25" b="0" i="0" u="none" strike="noStrike" cap="none" dirty="0" err="1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obtenido</a:t>
            </a:r>
            <a:r>
              <a:rPr lang="en-US" sz="1125" b="0" i="0" u="none" strike="noStrike" cap="none" dirty="0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Si ,                                                                                </a:t>
            </a:r>
            <a:r>
              <a:rPr lang="en-US" sz="1125" b="0" i="0" u="none" strike="noStrike" cap="none" dirty="0" err="1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rechazamos</a:t>
            </a:r>
            <a:r>
              <a:rPr lang="en-US" sz="1125" b="0" i="0" u="none" strike="noStrike" cap="none" dirty="0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     con un </a:t>
            </a:r>
            <a:r>
              <a:rPr lang="en-US" sz="1125" b="0" i="0" u="none" strike="noStrike" cap="none" dirty="0" err="1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nivel</a:t>
            </a:r>
            <a:r>
              <a:rPr lang="en-US" sz="1125" b="0" i="0" u="none" strike="noStrike" cap="none" dirty="0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125" b="0" i="0" u="none" strike="noStrike" cap="none" dirty="0" err="1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confianza</a:t>
            </a:r>
            <a:r>
              <a:rPr lang="en-US" sz="1125" b="0" i="0" u="none" strike="noStrike" cap="none" dirty="0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del 95%.</a:t>
            </a:r>
            <a:endParaRPr dirty="0"/>
          </a:p>
        </p:txBody>
      </p:sp>
      <p:pic>
        <p:nvPicPr>
          <p:cNvPr id="197" name="Google Shape;197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602706" y="3638103"/>
            <a:ext cx="1461938" cy="27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979900" y="4946293"/>
            <a:ext cx="185797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763345" y="4987230"/>
            <a:ext cx="361950" cy="26327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952500" y="571500"/>
            <a:ext cx="1100137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Planteamiento de Hipótesis Estadísticas</a:t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762000" y="571500"/>
            <a:ext cx="57150" cy="43993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762000" y="6134100"/>
            <a:ext cx="10668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Análisis de Varianza (ANOVA)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251001"/>
            <a:ext cx="5334000" cy="94833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762000" y="571500"/>
            <a:ext cx="5600700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El "Pero..." de ANOVA</a:t>
            </a:r>
            <a:endParaRPr dirty="0"/>
          </a:p>
        </p:txBody>
      </p:sp>
      <p:pic>
        <p:nvPicPr>
          <p:cNvPr id="211" name="Google Shape;21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42958" y="550352"/>
            <a:ext cx="1087042" cy="32831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762000" y="2193726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ANOVA es un test global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762000" y="2650926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 dice que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"existe alguna diferencia"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 la comparación general, pero no te revela dónde se localiza exactamente.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762000" y="4389834"/>
            <a:ext cx="5600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La Solución: Test de Tukey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762000" y="4751784"/>
            <a:ext cx="533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 el ANOVA inicial es estadísticamente significativo, ejecutamos un análisis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Post-Hoc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(como la prueba de Tukey) para realizar comparaciones seguras de pareja en pareja.</a:t>
            </a:r>
            <a:endParaRPr/>
          </a:p>
        </p:txBody>
      </p:sp>
      <p:pic>
        <p:nvPicPr>
          <p:cNvPr id="216" name="Google Shape;21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231826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942975" y="3393876"/>
            <a:ext cx="5010150" cy="6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Ejemplo práctico:</a:t>
            </a:r>
            <a:r>
              <a:rPr lang="en-US" sz="1087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 confirmará "Una de tus 3 campañas funciona diferente", pero no especificará si la ganadora es la A, la B o si solo la C tiene mal rendimiento.</a:t>
            </a:r>
            <a:endParaRPr/>
          </a:p>
        </p:txBody>
      </p:sp>
      <p:pic>
        <p:nvPicPr>
          <p:cNvPr id="218" name="Google Shape;21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418409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762000" y="6134100"/>
            <a:ext cx="10668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Análisis de Varianza (ANOVA) 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F126601-4304-431E-A1D7-AEBA975435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459" y="2479476"/>
            <a:ext cx="5309938" cy="28963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00850" y="1858267"/>
            <a:ext cx="46291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11680" y="651420"/>
            <a:ext cx="1318319" cy="27994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1190625" y="2348805"/>
            <a:ext cx="5229225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E-commerce y Ventas: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190625" y="3291780"/>
            <a:ext cx="5229225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Optimización de Producto &amp; UX: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1190625" y="4234755"/>
            <a:ext cx="5229225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Recursos Humanos / People Analytics:</a:t>
            </a:r>
            <a:endParaRPr/>
          </a:p>
        </p:txBody>
      </p:sp>
      <p:pic>
        <p:nvPicPr>
          <p:cNvPr id="230" name="Google Shape;23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10375" y="1867792"/>
            <a:ext cx="46101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1190625" y="2644080"/>
            <a:ext cx="52292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Comparar el ticket medio de compra según el canal o método de pago seleccionado por el cliente (Tarjeta, PayPal, Bizum o Transferencia).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1190625" y="3587055"/>
            <a:ext cx="52292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Evaluar la permanencia en web o tasas de conversión en un Test multivariable con 4 diseños de interfaz diferentes (A/B/C/D).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1190625" y="4530030"/>
            <a:ext cx="52292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Analizar los índices de productividad media según el modelo de contratación y trabajo activo (Presencial, Híbrido, Remoto).</a:t>
            </a:r>
            <a:endParaRPr/>
          </a:p>
        </p:txBody>
      </p:sp>
      <p:pic>
        <p:nvPicPr>
          <p:cNvPr id="234" name="Google Shape;23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37261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31559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4258567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952500" y="571500"/>
            <a:ext cx="1100137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¿</a:t>
            </a:r>
            <a:r>
              <a:rPr lang="en-US" sz="3150" b="0" i="0" u="none" strike="noStrike" cap="none" dirty="0" err="1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Dónde</a:t>
            </a:r>
            <a:r>
              <a:rPr lang="en-US" sz="3150" b="0" i="0" u="none" strike="noStrike" cap="none" dirty="0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 se </a:t>
            </a:r>
            <a:r>
              <a:rPr lang="en-US" sz="3150" b="0" i="0" u="none" strike="noStrike" cap="none" dirty="0" err="1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aplica</a:t>
            </a:r>
            <a:r>
              <a:rPr lang="en-US" sz="3150" b="0" i="0" u="none" strike="noStrike" cap="none" dirty="0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 </a:t>
            </a:r>
            <a:r>
              <a:rPr lang="en-US" sz="3150" b="0" i="0" u="none" strike="noStrike" cap="none" dirty="0" err="1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como</a:t>
            </a:r>
            <a:r>
              <a:rPr lang="en-US" sz="3150" b="0" i="0" u="none" strike="noStrike" cap="none" dirty="0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 </a:t>
            </a:r>
            <a:r>
              <a:rPr lang="en-US" sz="3150" b="0" i="0" u="none" strike="noStrike" cap="none" dirty="0" err="1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Analista</a:t>
            </a:r>
            <a:r>
              <a:rPr lang="en-US" sz="3150" b="0" i="0" u="none" strike="noStrike" cap="none" dirty="0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 de </a:t>
            </a:r>
            <a:r>
              <a:rPr lang="en-US" sz="3150" b="0" i="0" u="none" strike="noStrike" cap="none" dirty="0" err="1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Datos</a:t>
            </a:r>
            <a:r>
              <a:rPr lang="en-US" sz="3150" b="0" i="0" u="none" strike="noStrike" cap="none" dirty="0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?</a:t>
            </a:r>
            <a:endParaRPr dirty="0"/>
          </a:p>
        </p:txBody>
      </p:sp>
      <p:sp>
        <p:nvSpPr>
          <p:cNvPr id="238" name="Google Shape;238;p20"/>
          <p:cNvSpPr/>
          <p:nvPr/>
        </p:nvSpPr>
        <p:spPr>
          <a:xfrm>
            <a:off x="762000" y="571500"/>
            <a:ext cx="57150" cy="43993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762000" y="6134100"/>
            <a:ext cx="10668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Análisis de Varianza (ANOVA)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84023" y="651420"/>
            <a:ext cx="1145976" cy="279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222301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2813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340423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57387" y="2355651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2476500" y="2222301"/>
            <a:ext cx="830103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¿Cuándo aplicarlo?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2476500" y="2508051"/>
            <a:ext cx="7905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Siempre que dispongas de una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variable numérica de salida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(ventas, tiempos) y una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variable categórica clasificatoria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 3 o más variantes.</a:t>
            </a:r>
            <a:endParaRPr/>
          </a:p>
        </p:txBody>
      </p:sp>
      <p:pic>
        <p:nvPicPr>
          <p:cNvPr id="252" name="Google Shape;252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43100" y="341471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2476500" y="3281362"/>
            <a:ext cx="830103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Seguridad Metodológica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2476500" y="3567112"/>
            <a:ext cx="7905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Evita errores estadísticos de tipo Falso Positivo (Error Tipo I) y ahorra tiempo valioso procesando comparaciones múltiples en un solo cálculo unificado.</a:t>
            </a:r>
            <a:endParaRPr/>
          </a:p>
        </p:txBody>
      </p:sp>
      <p:pic>
        <p:nvPicPr>
          <p:cNvPr id="255" name="Google Shape;255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14525" y="4473773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2476500" y="4340423"/>
            <a:ext cx="830103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Flujo de trabajo estándar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2476500" y="4626173"/>
            <a:ext cx="7905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Calcula el ANOVA global → Analiza el p-valor general → Si es inferior a 0.05, aplica de manera obligatoria un análisis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Post-Hoc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para determinar los ganadores.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952500" y="571500"/>
            <a:ext cx="1100137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Resumen y Conclusiones Prácticas</a:t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762000" y="571500"/>
            <a:ext cx="57150" cy="43993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762000" y="6134100"/>
            <a:ext cx="10668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Análisis de Varianza (ANOVA)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755</Words>
  <Application>Microsoft Office PowerPoint</Application>
  <PresentationFormat>Panorámica</PresentationFormat>
  <Paragraphs>61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Plus Jakarta Sans</vt:lpstr>
      <vt:lpstr>Arial</vt:lpstr>
      <vt:lpstr>Plus Jakarta Sans SemiBold</vt:lpstr>
      <vt:lpstr>Outfit ExtraBold</vt:lpstr>
      <vt:lpstr>Calibri</vt:lpstr>
      <vt:lpstr>Outfit</vt:lpstr>
      <vt:lpstr>Plus Jakarta Sans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ALEJANDRA DG</cp:lastModifiedBy>
  <cp:revision>1</cp:revision>
  <dcterms:modified xsi:type="dcterms:W3CDTF">2026-05-19T12:16:48Z</dcterms:modified>
</cp:coreProperties>
</file>